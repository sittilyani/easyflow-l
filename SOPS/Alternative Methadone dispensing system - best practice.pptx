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CF6A-0AB6-7869-EDF8-851C69D2C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13B22-1969-8E90-ADCB-3BDA78404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821FE-4DE9-D2DB-4790-BBA33FD7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0D076-1D3B-30A2-8E5B-FF6327E28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69B47-B5D7-A48B-8DF6-FF5A5419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5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C098A-7F3E-C02C-1D65-3DDC8F4B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81B16-0D1F-C2D6-EF1A-24D5FD7CE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E6860-CE2A-42F1-05BA-7608D7D6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14FD0-73D9-D8BB-4925-0996A539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C3146-F1CC-EF4F-6780-DD9EA79D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6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6C44-ADCF-62E5-332E-AE4C5004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85461-52D9-410B-E180-5A00C8280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382D-F142-35E9-49C3-21074D1B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1B08D-BE3D-D951-1A3B-9F9E9C4A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C0016-F4CC-FB9E-D5AE-3683C962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3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3930E-04BD-0631-6F37-B51E4EC98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4593D-7101-D442-C799-2BBBFC497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94B48-21A4-8C4D-2FCD-CAAD702DC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211D4-2887-434B-B89C-DC32A175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5837C-558D-FC30-E357-6EBA0710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B37CF-1AD7-30AA-ECB8-E3406FECD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5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BDFE-7DA2-279C-A843-11943A03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BC785-320A-DD5D-E7CE-4B28876B1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5E5AB-7A04-1F01-2F47-2ACF736A6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09FB8-1E22-2B52-E465-59D8830A3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19E01-D437-F613-4FC1-D54F0AE18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68702-D3A5-05D9-3F2D-B374E2D9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ED7C37-451B-E9D6-D92D-F6B3B494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DE98A-09A6-E9C9-D255-7DD6420F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8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AA0D-55A7-CC4F-7668-0752C03F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465870-8900-AC2B-D896-BDE8448DC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9902E6-4CBE-0657-B9C8-AA7FECC9F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EF557-AE8A-22A2-0972-EEB0B9C2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51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791D4-571E-DAA6-15AC-16102F2F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BA6D0D-7245-11EE-A49C-DE8B91C17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148BD-365F-CE55-90AB-919EE0C6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B82B-CE97-A597-BE7B-BE367F58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82517-F9A9-9ACC-D5E4-A2C20C05C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3828D-1152-17A7-5258-E47F818D5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A27D9-DE20-B347-CB92-C6E93DB12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7B835-C078-1912-F813-FF5955D8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BD937-D2A8-36BF-C1C2-0D1C9483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4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5E527-B009-A383-33A9-34B09AFBE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06208-ECFA-E1AA-0BC8-B39837B43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C9898-25FA-610E-FD01-B330EC788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D75A4-F261-D781-B4F5-D333A9A0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B1616-7B55-249D-E0EB-B52CCD26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098FE-6FFB-0604-239A-8A102A9E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75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81EE3-1448-DA30-4709-87CFCA56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6E691-6C65-6C02-03AB-0C266BD00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8EEF1-FB06-F407-1133-5B1E72D1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52B4F-8DDD-2296-1278-E2A05B41F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8CDD4-66F0-E05E-4F7F-646A04AE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9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66EFC8-EE85-0927-7BAA-D45BBA1EF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B69FA-8C97-E756-7FE4-8A8403DEB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6BF1B-AC27-0EDB-9951-01B4F310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43FE0-20D3-5D58-B1C2-3C1C4497D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3C852-35C1-6CEC-27F9-C1DF9090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3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0B0DF-005F-200D-4606-DFAB0622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2FBDD-D58C-CCC9-AA4B-97736F887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2680C-2249-EF48-BF95-6915B19A5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0E2D7-AF20-4E34-8745-ED28AD53E519}" type="datetimeFigureOut">
              <a:rPr lang="en-US" smtClean="0"/>
              <a:t>04-Oct-25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5228D-6964-2EDB-C825-33C9B8CE3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78D8-B782-DAA4-AD67-A01D79A1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9F105-D874-455E-AE16-1FFD870D8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1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82BF-1C08-2EF4-31C8-B84038D1B0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Alternative Methadone dispensing system</a:t>
            </a:r>
          </a:p>
        </p:txBody>
      </p:sp>
    </p:spTree>
    <p:extLst>
      <p:ext uri="{BB962C8B-B14F-4D97-AF65-F5344CB8AC3E}">
        <p14:creationId xmlns:p14="http://schemas.microsoft.com/office/powerpoint/2010/main" val="1505452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E339-8F40-C332-4C42-CBEB52F2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Problem Statement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F695A-A755-28C0-6B74-1479DBA12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980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Kenya's Opioid Crisis</a:t>
            </a:r>
            <a:r>
              <a:rPr lang="en-US" dirty="0"/>
              <a:t>: Approximately 18,000 people who inject drugs (PWID) in Kenya, with only 6,000 enrolled in medically assisted therapy (MAT) as of 2023.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High HIV Prevalence</a:t>
            </a:r>
            <a:r>
              <a:rPr lang="en-US" dirty="0"/>
              <a:t>: PWID face an 18.3% HIV prevalence rate (20.5% in coastal regions), significantly higher than the general population’s 3.3%.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Challenges in MAT Clinics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Error-prone manual records (e.g., Excel, paper-based Form P5).</a:t>
            </a:r>
          </a:p>
          <a:p>
            <a:pPr lvl="1"/>
            <a:r>
              <a:rPr lang="en-US" dirty="0"/>
              <a:t>Expensive proprietary software with annual licensing fees (KES 250,000–800,000 per clinic).</a:t>
            </a:r>
          </a:p>
          <a:p>
            <a:pPr lvl="1"/>
            <a:r>
              <a:rPr lang="en-US" dirty="0"/>
              <a:t>Lack of customization, missing features like prison/takeaway modules and real-time tracking.</a:t>
            </a:r>
          </a:p>
          <a:p>
            <a:pPr lvl="1"/>
            <a:r>
              <a:rPr lang="en-US" dirty="0"/>
              <a:t>Reliance on costly imported equipment (e.g., infusion pumps at KES 1.7 million per clinic).</a:t>
            </a:r>
          </a:p>
          <a:p>
            <a:pPr lvl="1"/>
            <a:r>
              <a:rPr lang="en-US" dirty="0"/>
              <a:t>Non-reporting for clinical care of the client</a:t>
            </a:r>
          </a:p>
          <a:p>
            <a:pPr lvl="1"/>
            <a:r>
              <a:rPr lang="en-US" dirty="0"/>
              <a:t>No MoH reports generation</a:t>
            </a:r>
          </a:p>
        </p:txBody>
      </p:sp>
    </p:spTree>
    <p:extLst>
      <p:ext uri="{BB962C8B-B14F-4D97-AF65-F5344CB8AC3E}">
        <p14:creationId xmlns:p14="http://schemas.microsoft.com/office/powerpoint/2010/main" val="3411885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4FD1-B904-FB04-7EE5-081F8995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Intervention: Integrated Opioid Replacement Patient Management System (IORPMS)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CF88B-F646-56DD-8758-1B1B7E421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864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Overview</a:t>
            </a:r>
            <a:r>
              <a:rPr lang="en-US" dirty="0"/>
              <a:t>: A locally developed, free, offline, and open-access semi-automated methadone dispensing system piloted at Shimo La Tewa and </a:t>
            </a:r>
            <a:r>
              <a:rPr lang="en-US" dirty="0" err="1"/>
              <a:t>Faza</a:t>
            </a:r>
            <a:r>
              <a:rPr lang="en-US" dirty="0"/>
              <a:t> clinics.</a:t>
            </a:r>
          </a:p>
          <a:p>
            <a:pPr marL="0" indent="0">
              <a:buNone/>
            </a:pPr>
            <a:r>
              <a:rPr lang="en-US" b="1" dirty="0"/>
              <a:t>Key Features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Digitized Patient Management</a:t>
            </a:r>
            <a:r>
              <a:rPr lang="en-US" dirty="0"/>
              <a:t>: One-time registration, role-based access for clinicians, pharmacists, and nurses.</a:t>
            </a:r>
          </a:p>
          <a:p>
            <a:pPr lvl="1"/>
            <a:r>
              <a:rPr lang="en-US" b="1" dirty="0"/>
              <a:t>Compliance Safeguards</a:t>
            </a:r>
            <a:r>
              <a:rPr lang="en-US" dirty="0"/>
              <a:t>: Automated dose tracking, blocks duplicate dosing, and enforces Treatment Consent Agreement (TCA) compliance.</a:t>
            </a:r>
          </a:p>
          <a:p>
            <a:pPr lvl="1"/>
            <a:r>
              <a:rPr lang="en-US" b="1" dirty="0"/>
              <a:t>Prison/Takeaway Module</a:t>
            </a:r>
            <a:r>
              <a:rPr lang="en-US" dirty="0"/>
              <a:t>: Supports multi-day dosing with audit trails for accountability.</a:t>
            </a:r>
          </a:p>
          <a:p>
            <a:pPr lvl="1"/>
            <a:r>
              <a:rPr lang="en-US" b="1" dirty="0"/>
              <a:t>Cost Reduction</a:t>
            </a:r>
            <a:r>
              <a:rPr lang="en-US" dirty="0"/>
              <a:t>: Eliminates licensing fees and reduces equipment costs by 69% through local innovation (e.g., locally assembled infusion pumps).</a:t>
            </a:r>
          </a:p>
          <a:p>
            <a:pPr lvl="1"/>
            <a:r>
              <a:rPr lang="en-US" b="1" dirty="0"/>
              <a:t>Interoperability</a:t>
            </a:r>
            <a:r>
              <a:rPr lang="en-US" dirty="0"/>
              <a:t>: Aligns with Kenya’s national digital health framework for future integration.</a:t>
            </a:r>
          </a:p>
          <a:p>
            <a:pPr marL="0" indent="0">
              <a:buNone/>
            </a:pPr>
            <a:r>
              <a:rPr lang="en-US" b="1" dirty="0"/>
              <a:t>Objectives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Improve efficiency and accountability in ORT delivery.</a:t>
            </a:r>
          </a:p>
          <a:p>
            <a:pPr lvl="1"/>
            <a:r>
              <a:rPr lang="en-US" dirty="0"/>
              <a:t>Eliminate manual records and reduce reliance on costly software.</a:t>
            </a:r>
          </a:p>
          <a:p>
            <a:pPr lvl="1"/>
            <a:r>
              <a:rPr lang="en-US" dirty="0"/>
              <a:t>Enhance patient verification with fingerprint scanners and real-time analytics.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45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C189-F4E4-B407-5BB1-62CF2CD7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9371"/>
            <a:ext cx="10515600" cy="741004"/>
          </a:xfrm>
        </p:spPr>
        <p:txBody>
          <a:bodyPr/>
          <a:lstStyle/>
          <a:p>
            <a:r>
              <a:rPr lang="en-US" b="1" dirty="0">
                <a:latin typeface="+mn-lt"/>
              </a:rPr>
              <a:t>Results</a:t>
            </a:r>
            <a:endParaRPr 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AE83D-0413-49B2-18B8-09D013088B5A}"/>
              </a:ext>
            </a:extLst>
          </p:cNvPr>
          <p:cNvSpPr txBox="1"/>
          <p:nvPr/>
        </p:nvSpPr>
        <p:spPr>
          <a:xfrm>
            <a:off x="516193" y="1420085"/>
            <a:ext cx="1415846" cy="1168539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Efficiency Improvements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7B76C9-2056-1F28-08B4-E345369BA73F}"/>
              </a:ext>
            </a:extLst>
          </p:cNvPr>
          <p:cNvSpPr txBox="1"/>
          <p:nvPr/>
        </p:nvSpPr>
        <p:spPr>
          <a:xfrm>
            <a:off x="597310" y="2991639"/>
            <a:ext cx="1334728" cy="908864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Cost Savings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CBA442-B53D-F9CC-4B75-027BB818C74A}"/>
              </a:ext>
            </a:extLst>
          </p:cNvPr>
          <p:cNvSpPr txBox="1"/>
          <p:nvPr/>
        </p:nvSpPr>
        <p:spPr>
          <a:xfrm>
            <a:off x="556751" y="4320259"/>
            <a:ext cx="1415845" cy="822305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User Adoption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9CC7A9-6BF2-9611-4C4A-F4DBC6B31A66}"/>
              </a:ext>
            </a:extLst>
          </p:cNvPr>
          <p:cNvSpPr txBox="1"/>
          <p:nvPr/>
        </p:nvSpPr>
        <p:spPr>
          <a:xfrm>
            <a:off x="597310" y="5464150"/>
            <a:ext cx="1415845" cy="908864"/>
          </a:xfrm>
          <a:prstGeom prst="flowChartConnector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Accountability</a:t>
            </a:r>
            <a:r>
              <a:rPr lang="en-US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C16B1-A58F-1737-51EF-4740C10745FB}"/>
              </a:ext>
            </a:extLst>
          </p:cNvPr>
          <p:cNvSpPr txBox="1"/>
          <p:nvPr/>
        </p:nvSpPr>
        <p:spPr>
          <a:xfrm>
            <a:off x="2182760" y="1231404"/>
            <a:ext cx="7049729" cy="14642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Eliminated manual Form P5 Excel entries and referrals.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Auto-generated reports for lost-to-follow-up, transit clients, and weaned-off 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Streamlined workflows with one-time patient registration and role-based access.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6F316-7F1B-42A1-620A-3C9D3FE6B7D1}"/>
              </a:ext>
            </a:extLst>
          </p:cNvPr>
          <p:cNvSpPr txBox="1"/>
          <p:nvPr/>
        </p:nvSpPr>
        <p:spPr>
          <a:xfrm>
            <a:off x="2182759" y="2873123"/>
            <a:ext cx="7049729" cy="11918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Reduced clinic costs by 69% (from USD 21,300 to USD 4,260 per clinic).</a:t>
            </a:r>
          </a:p>
          <a:p>
            <a:r>
              <a:rPr lang="en-US" sz="1600" dirty="0"/>
              <a:t>Zero licensing fees compared to commercial alternatives (USD 1,200 annually).</a:t>
            </a:r>
          </a:p>
          <a:p>
            <a:r>
              <a:rPr lang="en-US" sz="1600" dirty="0"/>
              <a:t>Locally assembled infusion pumps can reduce equipment costs from USD 17,000 to USD 1,200.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A0050-306F-7C12-395B-20E7D3539C91}"/>
              </a:ext>
            </a:extLst>
          </p:cNvPr>
          <p:cNvSpPr txBox="1"/>
          <p:nvPr/>
        </p:nvSpPr>
        <p:spPr>
          <a:xfrm>
            <a:off x="2182759" y="4320259"/>
            <a:ext cx="7049729" cy="9194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Achieved 98% user satisfaction due to intuitive UI, online referral capabilities, and TCA-linked dispensing.</a:t>
            </a:r>
          </a:p>
          <a:p>
            <a:r>
              <a:rPr lang="en-US" sz="1600" dirty="0"/>
              <a:t>Positive feedback from pilots at Shimo La Tewa and </a:t>
            </a:r>
            <a:r>
              <a:rPr lang="en-US" sz="1600" dirty="0" err="1"/>
              <a:t>Faza</a:t>
            </a:r>
            <a:r>
              <a:rPr lang="en-US" sz="1600" dirty="0"/>
              <a:t> Sub-County Hospital.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257F0B-2957-489D-14D3-C7F4F31C3A91}"/>
              </a:ext>
            </a:extLst>
          </p:cNvPr>
          <p:cNvSpPr txBox="1"/>
          <p:nvPr/>
        </p:nvSpPr>
        <p:spPr>
          <a:xfrm>
            <a:off x="2182759" y="5595089"/>
            <a:ext cx="6988277" cy="646986"/>
          </a:xfrm>
          <a:prstGeom prst="round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Automated dose tracking reduced diversion risks.</a:t>
            </a:r>
          </a:p>
          <a:p>
            <a:r>
              <a:rPr lang="en-US" sz="1600" dirty="0"/>
              <a:t>Prison/takeaway modules ensured compliance with real-time activity logs.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74428F-3C6B-DD95-130D-1D83754A2902}"/>
              </a:ext>
            </a:extLst>
          </p:cNvPr>
          <p:cNvSpPr txBox="1"/>
          <p:nvPr/>
        </p:nvSpPr>
        <p:spPr>
          <a:xfrm>
            <a:off x="9542204" y="1238692"/>
            <a:ext cx="2233156" cy="37457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Future Potential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81C9E3-3F5B-C518-EFE1-2F278F3FE1BD}"/>
              </a:ext>
            </a:extLst>
          </p:cNvPr>
          <p:cNvSpPr txBox="1"/>
          <p:nvPr/>
        </p:nvSpPr>
        <p:spPr>
          <a:xfrm>
            <a:off x="9442651" y="1923753"/>
            <a:ext cx="2429801" cy="424954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Planned expansion to </a:t>
            </a:r>
            <a:r>
              <a:rPr lang="en-US" sz="1700" dirty="0" err="1"/>
              <a:t>Miritini</a:t>
            </a:r>
            <a:r>
              <a:rPr lang="en-US" sz="1700" dirty="0"/>
              <a:t> MAT Clinic and </a:t>
            </a:r>
            <a:r>
              <a:rPr lang="en-US" sz="1700" dirty="0" err="1"/>
              <a:t>Kingo'rani</a:t>
            </a:r>
            <a:r>
              <a:rPr lang="en-US" sz="1700" dirty="0"/>
              <a:t> Prison and </a:t>
            </a:r>
            <a:r>
              <a:rPr lang="en-US" sz="1700" dirty="0" err="1"/>
              <a:t>Kimabu</a:t>
            </a:r>
            <a:r>
              <a:rPr lang="en-US" sz="1700" dirty="0"/>
              <a:t> County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Integration of biometric authentication and mobile access for community-based follow-ups.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Framework adaptable for other harm reduction therapies.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9A255B2-7F7C-1C3B-16A0-8EDDFF809A14}"/>
              </a:ext>
            </a:extLst>
          </p:cNvPr>
          <p:cNvSpPr/>
          <p:nvPr/>
        </p:nvSpPr>
        <p:spPr>
          <a:xfrm>
            <a:off x="10441858" y="1642759"/>
            <a:ext cx="235974" cy="259782"/>
          </a:xfrm>
          <a:prstGeom prst="down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99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2148</TotalTime>
  <Words>466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Alternative Methadone dispensing system</vt:lpstr>
      <vt:lpstr>Problem Statement</vt:lpstr>
      <vt:lpstr>Intervention: Integrated Opioid Replacement Patient Management System (IORPMS)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Lyani Simon Sitti</dc:creator>
  <cp:lastModifiedBy>Dr Lyani Simon Sitti</cp:lastModifiedBy>
  <cp:revision>4</cp:revision>
  <dcterms:created xsi:type="dcterms:W3CDTF">2025-09-23T07:18:48Z</dcterms:created>
  <dcterms:modified xsi:type="dcterms:W3CDTF">2025-10-06T05:39:12Z</dcterms:modified>
</cp:coreProperties>
</file>